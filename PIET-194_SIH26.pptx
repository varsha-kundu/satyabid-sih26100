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337"/>
    <a:srgbClr val="010000"/>
    <a:srgbClr val="F9C05B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satyabid-frontend.onrender.com/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openxmlformats.org/officeDocument/2006/relationships/hyperlink" Target="https://bidplus-global.gem.gov.in/" TargetMode="External"/><Relationship Id="rId5" Type="http://schemas.openxmlformats.org/officeDocument/2006/relationships/hyperlink" Target="https://assets-bg.gem.gov.in/resources/upload/shared_doc/gem-overview-ppt-2-september-2024-1_1725964078.pdf" TargetMode="External"/><Relationship Id="rId4" Type="http://schemas.openxmlformats.org/officeDocument/2006/relationships/hyperlink" Target="https://assets-bg.gem.gov.in/resources/pdf/GeM_handbook.pdf" TargetMode="External"/><Relationship Id="rId3" Type="http://schemas.openxmlformats.org/officeDocument/2006/relationships/hyperlink" Target="https://gem.gov.in/" TargetMode="External"/><Relationship Id="rId2" Type="http://schemas.openxmlformats.org/officeDocument/2006/relationships/hyperlink" Target="https://qrfy.io/tIspljMvRO" TargetMode="Externa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39160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562406" y="216800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7620"/>
            <a:ext cx="10363200" cy="168402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INDIA HACKATHON 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IN" altLang="en-US" sz="4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en-IN" altLang="en-US" sz="4000" b="1" dirty="0" smtClean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1559560"/>
            <a:ext cx="7801610" cy="5444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altLang="en-US" sz="2400" b="1" dirty="0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26100</a:t>
            </a:r>
            <a:endParaRPr lang="en-US" sz="2400" b="1" dirty="0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Title-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Integrated Bid Compliance Verification Platform for GeM Procurement</a:t>
            </a:r>
            <a:endParaRPr lang="en-US" altLang="en-US" sz="2400" b="1" dirty="0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altLang="en-US" sz="2400" b="1" dirty="0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altLang="en-US" sz="2400" b="1" dirty="0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PIET-194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altLang="en-US" sz="2400" b="1" dirty="0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Nexora</a:t>
            </a:r>
            <a:endParaRPr lang="en-IN" altLang="en-US" sz="2400" b="1" dirty="0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175" y="1270"/>
            <a:ext cx="1684655" cy="6108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6479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alt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सत्यबिड – SATYABID</a:t>
            </a:r>
            <a:endParaRPr lang="en-US" altLang="en-US" sz="3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60960" y="83185"/>
            <a:ext cx="1264920" cy="61023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altLang="en-US" b="1" dirty="0">
                <a:solidFill>
                  <a:schemeClr val="accent4"/>
                </a:solidFill>
              </a:rPr>
              <a:t>Nexora</a:t>
            </a:r>
            <a:endParaRPr lang="en-IN" altLang="en-US" b="1" dirty="0">
              <a:solidFill>
                <a:schemeClr val="accent4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175" y="1270"/>
            <a:ext cx="1684655" cy="61087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501140" y="878205"/>
            <a:ext cx="909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chemeClr val="tx2">
                    <a:lumMod val="75000"/>
                  </a:schemeClr>
                </a:solidFill>
              </a:rPr>
              <a:t>An AI-Powered Bid Compliance Verification Platform for GeM Procurement</a:t>
            </a:r>
            <a:endParaRPr lang="en-US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" y="1318260"/>
            <a:ext cx="4045585" cy="5175885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11000"/>
                  <a:lumMod val="63000"/>
                  <a:lumOff val="37000"/>
                </a:schemeClr>
              </a:gs>
              <a:gs pos="0">
                <a:schemeClr val="accent1">
                  <a:alpha val="32000"/>
                </a:schemeClr>
              </a:gs>
              <a:gs pos="100000">
                <a:schemeClr val="accent1">
                  <a:lumMod val="94000"/>
                  <a:lumOff val="6000"/>
                  <a:alpha val="8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rgbClr val="323232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26365" y="1367155"/>
            <a:ext cx="4012565" cy="5126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b="1" u="sng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YSTEM CAPABILITIES</a:t>
            </a:r>
            <a:endParaRPr lang="en-IN" altLang="en-US" sz="2000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 Extraction</a:t>
            </a:r>
            <a:r>
              <a:rPr lang="en-US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Converts tender clauses into stru</a:t>
            </a: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tured, checkable requirement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Intelligence –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Extracts bidder data using OCR and NLP.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Verification –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Cross-checks data against authorized government sources.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 Validation –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Applies AI-based and deterministic rule checks.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Classification –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Generates compliance status, score, and risk level.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Reporting –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Presents requirement-wise results with supporting evidence.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19575" y="1296670"/>
            <a:ext cx="4045585" cy="518795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11000"/>
                  <a:lumMod val="63000"/>
                  <a:lumOff val="37000"/>
                </a:schemeClr>
              </a:gs>
              <a:gs pos="0">
                <a:schemeClr val="accent1">
                  <a:alpha val="32000"/>
                </a:schemeClr>
              </a:gs>
              <a:gs pos="100000">
                <a:schemeClr val="accent1">
                  <a:lumMod val="94000"/>
                  <a:lumOff val="6000"/>
                  <a:alpha val="8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rgbClr val="32323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06130" y="1318260"/>
            <a:ext cx="3697605" cy="371602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11000"/>
                  <a:lumMod val="63000"/>
                  <a:lumOff val="37000"/>
                </a:schemeClr>
              </a:gs>
              <a:gs pos="0">
                <a:schemeClr val="accent1">
                  <a:alpha val="32000"/>
                </a:schemeClr>
              </a:gs>
              <a:gs pos="100000">
                <a:schemeClr val="accent1">
                  <a:lumMod val="94000"/>
                  <a:lumOff val="6000"/>
                  <a:alpha val="8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rgbClr val="323232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4250055" y="1367155"/>
            <a:ext cx="4012565" cy="5097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GAPS ADDRESSED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Verification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Reduces repetitive document checking.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Fragmentation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Unifies bidder documents and multi-source verification.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 Gaps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Flags missing, expired, or inconsistent information.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Inconsistency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Detects conflicting bidder information across sources.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Uncertainty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Routes unclear cases for manual review.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Traceability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Links results to evidence, rules, and sources.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417560" y="1367155"/>
            <a:ext cx="3706495" cy="3387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WHAT SETS IT APARTS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Verification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AI + rule-based checks.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Multilingual Access</a:t>
            </a:r>
            <a:r>
              <a:rPr lang="en-IN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Available in 22 Indian languages.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Evidence-Based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Requirement-to-evidence mapping.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AI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&amp; </a:t>
            </a: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Risk-Aware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Clear reasons and confidence</a:t>
            </a:r>
            <a:r>
              <a:rPr lang="en-IN" altLang="en-US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Prioritizes critical cases.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Human-Centric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Officer controls the final decision.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-635" y="6484620"/>
            <a:ext cx="12183745" cy="37592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-1270" y="6488430"/>
            <a:ext cx="12185015" cy="363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 FUNCTIONAL END-TO-END  PROTOTYPE COMPLETED</a:t>
            </a:r>
            <a:endParaRPr lang="en-IN" altLang="en-US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Satyab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75" y="5121275"/>
            <a:ext cx="1887855" cy="12801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361680" y="5509895"/>
            <a:ext cx="1800860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SzPct val="80000"/>
              <a:buFont typeface="Wingdings" panose="05000000000000000000" charset="0"/>
              <a:buNone/>
            </a:pPr>
            <a:r>
              <a:rPr lang="en-US" altLang="en-US" b="1">
                <a:solidFill>
                  <a:srgbClr val="ED1337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Scan QR</a:t>
            </a:r>
            <a:r>
              <a:rPr lang="en-IN" altLang="en-US" b="1">
                <a:solidFill>
                  <a:srgbClr val="ED1337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:-&gt;</a:t>
            </a:r>
            <a:endParaRPr lang="en-IN" altLang="en-US" b="1">
              <a:solidFill>
                <a:srgbClr val="ED1337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buSzPct val="80000"/>
              <a:buFont typeface="Wingdings" panose="05000000000000000000" charset="0"/>
              <a:buNone/>
            </a:pPr>
            <a:r>
              <a:rPr lang="en-IN" altLang="en-US" b="1">
                <a:solidFill>
                  <a:srgbClr val="ED1337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or</a:t>
            </a:r>
            <a:endParaRPr lang="en-IN" altLang="en-US" b="1">
              <a:solidFill>
                <a:srgbClr val="ED1337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>
              <a:buSzPct val="80000"/>
              <a:buFont typeface="Wingdings" panose="05000000000000000000" charset="0"/>
              <a:buNone/>
            </a:pPr>
            <a:r>
              <a:rPr lang="en-IN" altLang="en-US" b="1">
                <a:solidFill>
                  <a:srgbClr val="ED1337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[</a:t>
            </a:r>
            <a:r>
              <a:rPr lang="en-IN" altLang="en-US" b="1">
                <a:solidFill>
                  <a:srgbClr val="ED1337"/>
                </a:solidFill>
                <a:latin typeface="Arial Black" panose="020B0A04020102020204" charset="0"/>
                <a:cs typeface="Arial Black" panose="020B0A04020102020204" charset="0"/>
                <a:sym typeface="+mn-ea"/>
                <a:hlinkClick r:id="rId3" action="ppaction://hlinkfile"/>
              </a:rPr>
              <a:t>click here</a:t>
            </a:r>
            <a:r>
              <a:rPr lang="en-IN" altLang="en-US" b="1">
                <a:solidFill>
                  <a:srgbClr val="ED1337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]</a:t>
            </a:r>
            <a:endParaRPr lang="en-IN" altLang="en-US" b="1">
              <a:solidFill>
                <a:srgbClr val="ED1337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262620" y="5151755"/>
            <a:ext cx="2154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FOR PROTOTYPE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hatGPT Image Sep 14, 2026, 11_21_2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5083810"/>
            <a:ext cx="7679690" cy="1764665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59765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175" y="1270"/>
            <a:ext cx="1684655" cy="610870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60960" y="83185"/>
            <a:ext cx="1264920" cy="61023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altLang="en-US" b="1" dirty="0">
                <a:solidFill>
                  <a:schemeClr val="accent4"/>
                </a:solidFill>
              </a:rPr>
              <a:t>Nexora</a:t>
            </a:r>
            <a:endParaRPr lang="en-IN" altLang="en-US" b="1" dirty="0">
              <a:solidFill>
                <a:schemeClr val="accent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" y="921385"/>
            <a:ext cx="4033520" cy="387477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47000">
                <a:srgbClr val="CADEFC">
                  <a:alpha val="69000"/>
                </a:srgbClr>
              </a:gs>
              <a:gs pos="0">
                <a:srgbClr val="C1D8F9">
                  <a:alpha val="41000"/>
                  <a:lumMod val="60000"/>
                  <a:lumOff val="40000"/>
                </a:srgbClr>
              </a:gs>
              <a:gs pos="0">
                <a:srgbClr val="AECBF3">
                  <a:alpha val="100000"/>
                </a:srgbClr>
              </a:gs>
              <a:gs pos="0">
                <a:srgbClr val="3F80CE">
                  <a:alpha val="100000"/>
                </a:srgbClr>
              </a:gs>
              <a:gs pos="2000">
                <a:srgbClr val="89B2E7">
                  <a:alpha val="100000"/>
                </a:srgbClr>
              </a:gs>
              <a:gs pos="100000">
                <a:schemeClr val="accent1">
                  <a:tint val="50000"/>
                  <a:shade val="100000"/>
                  <a:satMod val="350000"/>
                  <a:alpha val="39000"/>
                  <a:lumMod val="44000"/>
                  <a:lumOff val="56000"/>
                </a:scheme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pic>
        <p:nvPicPr>
          <p:cNvPr id="8" name="Picture 7" descr="ChatGPT Image Sep 14, 2026, 10_54_02 PM"/>
          <p:cNvPicPr>
            <a:picLocks noChangeAspect="1"/>
          </p:cNvPicPr>
          <p:nvPr/>
        </p:nvPicPr>
        <p:blipFill>
          <a:blip r:embed="rId3"/>
          <a:srcRect l="9104" t="7271" r="8914" b="8030"/>
          <a:stretch>
            <a:fillRect/>
          </a:stretch>
        </p:blipFill>
        <p:spPr>
          <a:xfrm>
            <a:off x="7681595" y="929640"/>
            <a:ext cx="4420235" cy="592836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806180" y="612140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IMPLEMENTATION FLOW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Screenshot 2026-09-14 2309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75" y="929640"/>
            <a:ext cx="4204335" cy="387413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838700" y="561340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207135" y="582930"/>
            <a:ext cx="325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207135" y="4796155"/>
            <a:ext cx="32569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600" b="1" u="sng"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  <a:endParaRPr lang="en-IN" altLang="en-US" sz="1600" b="1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951230"/>
            <a:ext cx="4054475" cy="3768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600" b="1">
                <a:solidFill>
                  <a:srgbClr val="ED1337"/>
                </a:solidFill>
              </a:rPr>
              <a:t>Bid Document Extraction —</a:t>
            </a:r>
            <a:r>
              <a:rPr lang="en-US" altLang="en-US" sz="1600"/>
              <a:t> Extracts GSTIN, PAN, CIN and Udyam details from bid PDFs.</a:t>
            </a:r>
            <a:endParaRPr lang="en-US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600" b="1">
                <a:solidFill>
                  <a:srgbClr val="ED1337"/>
                </a:solidFill>
              </a:rPr>
              <a:t>Vendor Verification —</a:t>
            </a:r>
            <a:r>
              <a:rPr lang="en-US" altLang="en-US" sz="1600"/>
              <a:t> Cross-checks identity, GST, PAN, CIN, legal name and debarment.</a:t>
            </a:r>
            <a:endParaRPr lang="en-US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600" b="1">
                <a:solidFill>
                  <a:srgbClr val="ED1337"/>
                </a:solidFill>
              </a:rPr>
              <a:t>Tender Eligibility —</a:t>
            </a:r>
            <a:r>
              <a:rPr lang="en-US" altLang="en-US" sz="1600"/>
              <a:t> Validates turnover, MSME exemption, local content and country of origin.</a:t>
            </a:r>
            <a:endParaRPr lang="en-US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600" b="1">
                <a:solidFill>
                  <a:srgbClr val="ED1337"/>
                </a:solidFill>
              </a:rPr>
              <a:t>Multi-Source Compliance</a:t>
            </a:r>
            <a:r>
              <a:rPr lang="en-US" altLang="en-US" sz="1600"/>
              <a:t> — Cross-references data across 12 simulated government portals.</a:t>
            </a:r>
            <a:endParaRPr lang="en-US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600" b="1">
                <a:solidFill>
                  <a:srgbClr val="ED1337"/>
                </a:solidFill>
              </a:rPr>
              <a:t>Compliance Scoring — </a:t>
            </a:r>
            <a:r>
              <a:rPr lang="en-US" altLang="en-US" sz="1600"/>
              <a:t>Generates a 0–100 score, risk level and overall status.</a:t>
            </a:r>
            <a:endParaRPr lang="en-US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600" b="1">
                <a:solidFill>
                  <a:srgbClr val="ED1337"/>
                </a:solidFill>
              </a:rPr>
              <a:t>Human Decision Layer —</a:t>
            </a:r>
            <a:r>
              <a:rPr lang="en-US" altLang="en-US" sz="1600"/>
              <a:t> Routes critical or uncertain cases for officer review.</a:t>
            </a:r>
            <a:endParaRPr lang="en-US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175" y="1270"/>
            <a:ext cx="1684655" cy="610870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60960" y="83185"/>
            <a:ext cx="1264920" cy="61023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altLang="en-US" b="1" dirty="0">
                <a:solidFill>
                  <a:schemeClr val="accent4"/>
                </a:solidFill>
              </a:rPr>
              <a:t>Nexora</a:t>
            </a:r>
            <a:endParaRPr lang="en-IN" altLang="en-US" b="1" dirty="0">
              <a:solidFill>
                <a:schemeClr val="accent4"/>
              </a:solidFill>
            </a:endParaRPr>
          </a:p>
        </p:txBody>
      </p:sp>
      <p:pic>
        <p:nvPicPr>
          <p:cNvPr id="5" name="Picture 4" descr="satyabid_challenges_timeline"/>
          <p:cNvPicPr>
            <a:picLocks noChangeAspect="1"/>
          </p:cNvPicPr>
          <p:nvPr/>
        </p:nvPicPr>
        <p:blipFill>
          <a:blip r:embed="rId2"/>
          <a:srcRect l="3506" t="11051" r="3456" b="8635"/>
          <a:stretch>
            <a:fillRect/>
          </a:stretch>
        </p:blipFill>
        <p:spPr>
          <a:xfrm>
            <a:off x="128270" y="3599815"/>
            <a:ext cx="7729220" cy="32581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47660" y="3351530"/>
            <a:ext cx="4170045" cy="3369945"/>
          </a:xfrm>
          <a:prstGeom prst="rect">
            <a:avLst/>
          </a:prstGeom>
          <a:gradFill>
            <a:gsLst>
              <a:gs pos="1000">
                <a:schemeClr val="accent1">
                  <a:tint val="100000"/>
                  <a:shade val="100000"/>
                  <a:satMod val="130000"/>
                  <a:alpha val="100000"/>
                  <a:lumMod val="50000"/>
                  <a:lumOff val="50000"/>
                </a:schemeClr>
              </a:gs>
              <a:gs pos="36000">
                <a:schemeClr val="accent1">
                  <a:tint val="50000"/>
                  <a:shade val="100000"/>
                  <a:satMod val="350000"/>
                  <a:alpha val="38000"/>
                  <a:lumMod val="29000"/>
                  <a:lumOff val="71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pic>
        <p:nvPicPr>
          <p:cNvPr id="9" name="Picture 8" descr="satyabid_before_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025" y="768985"/>
            <a:ext cx="4154805" cy="25800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025" y="854075"/>
            <a:ext cx="3972560" cy="2235835"/>
          </a:xfrm>
          <a:prstGeom prst="rect">
            <a:avLst/>
          </a:prstGeom>
          <a:gradFill>
            <a:gsLst>
              <a:gs pos="1000">
                <a:schemeClr val="accent1">
                  <a:tint val="100000"/>
                  <a:shade val="100000"/>
                  <a:satMod val="130000"/>
                  <a:alpha val="68000"/>
                  <a:lumMod val="50000"/>
                  <a:lumOff val="50000"/>
                </a:schemeClr>
              </a:gs>
              <a:gs pos="36000">
                <a:schemeClr val="accent1">
                  <a:tint val="50000"/>
                  <a:shade val="100000"/>
                  <a:satMod val="350000"/>
                  <a:alpha val="38000"/>
                  <a:lumMod val="29000"/>
                  <a:lumOff val="71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2818765" y="3206115"/>
            <a:ext cx="3877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>
                <a:latin typeface="Arial Black" panose="020B0A04020102020204" charset="0"/>
                <a:cs typeface="Arial Black" panose="020B0A04020102020204" charset="0"/>
              </a:rPr>
              <a:t>WHAT IFs...?</a:t>
            </a:r>
            <a:endParaRPr lang="en-IN" altLang="en-US" sz="240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3070" y="854075"/>
            <a:ext cx="3703955" cy="2235835"/>
          </a:xfrm>
          <a:prstGeom prst="rect">
            <a:avLst/>
          </a:prstGeom>
          <a:gradFill>
            <a:gsLst>
              <a:gs pos="1000">
                <a:schemeClr val="accent1">
                  <a:tint val="100000"/>
                  <a:shade val="100000"/>
                  <a:satMod val="130000"/>
                  <a:alpha val="68000"/>
                  <a:lumMod val="50000"/>
                  <a:lumOff val="50000"/>
                </a:schemeClr>
              </a:gs>
              <a:gs pos="36000">
                <a:schemeClr val="accent1">
                  <a:tint val="50000"/>
                  <a:shade val="100000"/>
                  <a:satMod val="350000"/>
                  <a:alpha val="38000"/>
                  <a:lumMod val="29000"/>
                  <a:lumOff val="71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0960" y="854075"/>
            <a:ext cx="3972560" cy="2238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TECHNICAL FEASABILITY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Proven &amp; Modular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Technology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– OCR, NLP, AI + Rules.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Integration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Synthetic data + authorized sources.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Oversight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Officer review for uncertain cases.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243705" y="855345"/>
            <a:ext cx="3703955" cy="2237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DEPLOYMENT VIABILITY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Efficiency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Reduces manual effort.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Flexibility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Cloud or institutional deployment.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Scalability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Supports new sources and rules.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011795" y="3366135"/>
            <a:ext cx="4180205" cy="3355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CHALLENGES AND MITIGATIONS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Unavailable 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Marks the requirement “Unable to Verify.”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Low-Confidence AI 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Sends cases for Manual Review.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Changing Rules 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Uses a Configurable Rule Engine.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Inconsistent Data 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Performs Cross-Source Validation.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Privacy </a:t>
            </a:r>
            <a:r>
              <a:rPr lang="en-IN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Applies Secure Access and Controlled Data Handling.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175" y="1270"/>
            <a:ext cx="1684655" cy="610870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60960" y="83185"/>
            <a:ext cx="1264920" cy="61023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altLang="en-US" b="1" dirty="0">
                <a:solidFill>
                  <a:schemeClr val="accent4"/>
                </a:solidFill>
              </a:rPr>
              <a:t>Nexora</a:t>
            </a:r>
            <a:endParaRPr lang="en-IN" altLang="en-US" b="1" dirty="0">
              <a:solidFill>
                <a:schemeClr val="accent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" y="934720"/>
            <a:ext cx="5944870" cy="3143250"/>
          </a:xfrm>
          <a:prstGeom prst="rect">
            <a:avLst/>
          </a:prstGeom>
          <a:gradFill>
            <a:gsLst>
              <a:gs pos="2000">
                <a:schemeClr val="accent1">
                  <a:tint val="100000"/>
                  <a:shade val="100000"/>
                  <a:satMod val="130000"/>
                  <a:alpha val="36000"/>
                  <a:lumMod val="82000"/>
                  <a:lumOff val="1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13000"/>
                  <a:lumMod val="38000"/>
                  <a:lumOff val="62000"/>
                </a:schemeClr>
              </a:gs>
            </a:gsLst>
            <a:lin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56960" y="934720"/>
            <a:ext cx="5944870" cy="3161665"/>
          </a:xfrm>
          <a:prstGeom prst="rect">
            <a:avLst/>
          </a:prstGeom>
          <a:gradFill>
            <a:gsLst>
              <a:gs pos="2000">
                <a:schemeClr val="accent1">
                  <a:tint val="100000"/>
                  <a:shade val="100000"/>
                  <a:satMod val="130000"/>
                  <a:alpha val="36000"/>
                  <a:lumMod val="82000"/>
                  <a:lumOff val="1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13000"/>
                  <a:lumMod val="38000"/>
                  <a:lumOff val="62000"/>
                </a:schemeClr>
              </a:gs>
            </a:gsLst>
            <a:lin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75" y="4214495"/>
            <a:ext cx="7489825" cy="2437130"/>
          </a:xfrm>
          <a:prstGeom prst="rect">
            <a:avLst/>
          </a:prstGeom>
          <a:gradFill>
            <a:gsLst>
              <a:gs pos="2000">
                <a:schemeClr val="accent1">
                  <a:tint val="100000"/>
                  <a:shade val="100000"/>
                  <a:satMod val="130000"/>
                  <a:alpha val="36000"/>
                  <a:lumMod val="82000"/>
                  <a:lumOff val="1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13000"/>
                  <a:lumMod val="38000"/>
                  <a:lumOff val="62000"/>
                </a:schemeClr>
              </a:gs>
            </a:gsLst>
            <a:lin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6675" y="934720"/>
            <a:ext cx="5939155" cy="3125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IMPACT ON PROCUREMENT OFFICERS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Verification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Reduces repetitive manual checking.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Accuracy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Detects missing, expired, and inconsistent data.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Centralized Evaluation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Brings documents, rules, and source data together.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Decisions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Provides evidence-backed compliance results.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Focused Review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Highlights high-risk and uncertain cases.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156960" y="934720"/>
            <a:ext cx="5939155" cy="3126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OPERATIONAL BENEFITS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Workload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Automates routine verification tasks.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Multi-Source Checks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Cross-verifies bidder information across sources.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Issue Detection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Flags compliance gaps before final evaluation.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Transparent Process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Shows evidence, rules, and verification status.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Oversight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Keeps final decision with the procurement officer.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0960" y="4214495"/>
            <a:ext cx="7528560" cy="2315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 u="sng">
                <a:latin typeface="Arial" panose="020B0604020202020204" pitchFamily="34" charset="0"/>
                <a:cs typeface="Arial" panose="020B0604020202020204" pitchFamily="34" charset="0"/>
              </a:rPr>
              <a:t>ECONOMIC AND STRATEGIC BENEFITS</a:t>
            </a:r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altLang="en-US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Efficiency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Speeds up the bid evaluation process.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 Optimization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Reduces effort spent on repetitive checks.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Solution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Supports different tenders and compliance rules.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Accountability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Maintains traceable verification records.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Transformation –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Strengthens AI-driven procurement workflows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satyabid_impact_distribution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0" y="4097020"/>
            <a:ext cx="4623435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58115" y="1095375"/>
            <a:ext cx="5816600" cy="5626100"/>
          </a:xfrm>
          <a:prstGeom prst="rect">
            <a:avLst/>
          </a:prstGeom>
          <a:gradFill>
            <a:gsLst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2000">
                <a:srgbClr val="4584D0">
                  <a:alpha val="100000"/>
                </a:srgbClr>
              </a:gs>
              <a:gs pos="2000">
                <a:srgbClr val="4A88D2">
                  <a:alpha val="100000"/>
                </a:srgbClr>
              </a:gs>
              <a:gs pos="1000">
                <a:srgbClr val="558FD5">
                  <a:alpha val="100000"/>
                </a:srgbClr>
              </a:gs>
              <a:gs pos="13000">
                <a:srgbClr val="6B9DDB">
                  <a:alpha val="44000"/>
                </a:srgbClr>
              </a:gs>
              <a:gs pos="0">
                <a:srgbClr val="96BAE7">
                  <a:alpha val="100000"/>
                </a:srgbClr>
              </a:gs>
              <a:gs pos="52000">
                <a:schemeClr val="accent1">
                  <a:tint val="50000"/>
                  <a:shade val="100000"/>
                  <a:satMod val="350000"/>
                  <a:alpha val="50000"/>
                  <a:lumMod val="19000"/>
                  <a:lumOff val="81000"/>
                </a:scheme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175" y="1270"/>
            <a:ext cx="1684655" cy="610870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60960" y="83185"/>
            <a:ext cx="1264920" cy="61023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altLang="en-US" b="1" dirty="0">
                <a:solidFill>
                  <a:schemeClr val="accent4"/>
                </a:solidFill>
              </a:rPr>
              <a:t>Nexora</a:t>
            </a:r>
            <a:endParaRPr lang="en-IN" altLang="en-US" b="1" dirty="0">
              <a:solidFill>
                <a:schemeClr val="accent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89345" y="1095375"/>
            <a:ext cx="5816600" cy="5626100"/>
          </a:xfrm>
          <a:prstGeom prst="rect">
            <a:avLst/>
          </a:prstGeom>
          <a:gradFill>
            <a:gsLst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2000">
                <a:srgbClr val="4584D0">
                  <a:alpha val="100000"/>
                </a:srgbClr>
              </a:gs>
              <a:gs pos="2000">
                <a:srgbClr val="4A88D2">
                  <a:alpha val="100000"/>
                </a:srgbClr>
              </a:gs>
              <a:gs pos="1000">
                <a:srgbClr val="558FD5">
                  <a:alpha val="100000"/>
                </a:srgbClr>
              </a:gs>
              <a:gs pos="13000">
                <a:srgbClr val="6B9DDB">
                  <a:alpha val="44000"/>
                </a:srgbClr>
              </a:gs>
              <a:gs pos="0">
                <a:srgbClr val="96BAE7">
                  <a:alpha val="100000"/>
                </a:srgbClr>
              </a:gs>
              <a:gs pos="52000">
                <a:schemeClr val="accent1">
                  <a:tint val="50000"/>
                  <a:shade val="100000"/>
                  <a:satMod val="350000"/>
                  <a:alpha val="50000"/>
                  <a:lumMod val="19000"/>
                  <a:lumOff val="81000"/>
                </a:schemeClr>
              </a:gs>
            </a:gsLst>
            <a:lin ang="54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58115" y="1238885"/>
            <a:ext cx="5807710" cy="561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2400" u="sng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RESEARCH WORK</a:t>
            </a:r>
            <a:endParaRPr lang="en-IN" altLang="en-US" sz="2400" u="sng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Focus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Studied existing GeM procurement and bid-verification workflows.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Reviewed AI, OCR, NLP and rule-based document verification approaches.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gaps in manual and fragmented compliance verification.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a human-in-the-loop architecture for explainable decision support.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QR </a:t>
            </a:r>
            <a:r>
              <a:rPr lang="en-IN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IN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ead</a:t>
            </a:r>
            <a:r>
              <a:rPr lang="en-IN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IN" altLang="en-US" sz="1800" b="1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en-IN" altLang="en-US" sz="1800" b="1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Font typeface="Wingdings" panose="05000000000000000000" charset="0"/>
              <a:buNone/>
            </a:pPr>
            <a:endParaRPr lang="en-US" altLang="en-US" sz="1800" b="1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IN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Link To </a:t>
            </a:r>
            <a:r>
              <a:rPr lang="en-US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Research Paper </a:t>
            </a:r>
            <a:r>
              <a:rPr lang="en-IN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altLang="en-US" sz="1800" b="1">
              <a:solidFill>
                <a:srgbClr val="ED13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 b="1">
                <a:solidFill>
                  <a:srgbClr val="ED13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altLang="en-US" sz="1800" b="1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US" altLang="en-US" sz="1800" b="1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https://qrfy.io/tIspljMvRO</a:t>
            </a:r>
            <a:endParaRPr lang="en-US" altLang="en-US" sz="1800" b="1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189345" y="1238885"/>
            <a:ext cx="5779135" cy="1355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2400" b="1" u="sng">
                <a:latin typeface="Arial Black" panose="020B0A04020102020204" charset="0"/>
                <a:cs typeface="Arial Black" panose="020B0A04020102020204" charset="0"/>
                <a:sym typeface="+mn-ea"/>
              </a:rPr>
              <a:t>REFERENCES</a:t>
            </a:r>
            <a:endParaRPr lang="en-IN" altLang="en-US" sz="2400" b="1" u="sng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algn="ctr"/>
            <a:endParaRPr lang="en-IN" altLang="en-US" sz="2400" b="1" u="sng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GeM Official Website</a:t>
            </a: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: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Procurement ecosystem &amp; bidding framework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  <a:hlinkClick r:id="rId3" action="ppaction://hlinkfile"/>
              </a:rPr>
              <a:t>[Visit Reference]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GeM Handbook</a:t>
            </a: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: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Procurement framework &amp; guidelines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  <a:hlinkClick r:id="rId4" action="ppaction://hlinkfile"/>
              </a:rPr>
              <a:t>[View Reference ]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GeM Overview</a:t>
            </a: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: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GeM ecosystem &amp; stakeholder structure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  <a:hlinkClick r:id="rId5" action="ppaction://hlinkfile"/>
              </a:rPr>
              <a:t>[View Reference]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GeM Bid Documents</a:t>
            </a: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: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Tender structure &amp; compliance requirements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IN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  <a:sym typeface="+mn-ea"/>
                <a:hlinkClick r:id="rId6" action="ppaction://hlinkfile"/>
              </a:rPr>
              <a:t>[View Reference]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5" name="Picture 24" descr="Untitl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3665" y="4215765"/>
            <a:ext cx="1684655" cy="1477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4880</Words>
  <Application>WPS Presentation</Application>
  <PresentationFormat>Widescreen</PresentationFormat>
  <Paragraphs>168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Wingdings</vt:lpstr>
      <vt:lpstr>Arial Black</vt:lpstr>
      <vt:lpstr>Microsoft YaHei</vt:lpstr>
      <vt:lpstr>Arial Unicode MS</vt:lpstr>
      <vt:lpstr>Nirmala UI</vt:lpstr>
      <vt:lpstr>Office Theme</vt:lpstr>
      <vt:lpstr>SMART INDIA HACKATHON 2026</vt:lpstr>
      <vt:lpstr> सत्यबिड – SATYABID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Varsha Kundu</cp:lastModifiedBy>
  <cp:revision>159</cp:revision>
  <dcterms:created xsi:type="dcterms:W3CDTF">2013-12-12T18:46:00Z</dcterms:created>
  <dcterms:modified xsi:type="dcterms:W3CDTF">2026-09-14T18:16:36Z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BCA83BAD357A4B2E9707F7A114A21FD0_13</vt:lpwstr>
  </property>
</Properties>
</file>